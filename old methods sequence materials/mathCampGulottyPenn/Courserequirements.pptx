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60" r:id="rId4"/>
    <p:sldId id="266" r:id="rId5"/>
    <p:sldId id="267" r:id="rId6"/>
    <p:sldId id="269" r:id="rId7"/>
    <p:sldId id="268" r:id="rId8"/>
    <p:sldId id="270" r:id="rId9"/>
    <p:sldId id="273" r:id="rId10"/>
    <p:sldId id="272" r:id="rId11"/>
    <p:sldId id="265" r:id="rId12"/>
    <p:sldId id="262" r:id="rId13"/>
    <p:sldId id="261" r:id="rId14"/>
    <p:sldId id="257" r:id="rId15"/>
    <p:sldId id="264" r:id="rId16"/>
    <p:sldId id="258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3"/>
    <p:restoredTop sz="94663"/>
  </p:normalViewPr>
  <p:slideViewPr>
    <p:cSldViewPr snapToGrid="0" snapToObjects="1">
      <p:cViewPr>
        <p:scale>
          <a:sx n="109" d="100"/>
          <a:sy n="109" d="100"/>
        </p:scale>
        <p:origin x="3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725F-6B2B-384A-8178-2BB8CFE38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50599-2BB9-824F-8E27-475B6E83A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8101E-B61C-4B48-AFFB-BADE6418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17BC6-0E94-4241-B581-210A64347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C11C0-F631-A841-9CBE-CADC73E2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8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F38A-4268-0E47-8707-8DD120325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BDB0D-95D8-8B4A-ABA3-5F94F4D3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F2D46-8135-CF45-83C1-ED313630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B2F15-DBEA-3D43-9584-6CD6F80C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96C33-5B8A-6B4F-8F4E-3CF95B27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36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38B43-11DF-024F-9421-E9EA11A20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E1E66-3C8D-6449-9950-AF28891F7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EB8A3-7AB8-0143-AF82-3C6566CDC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D5AB6-7B57-954D-8EBD-C6F6620D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47E33-7B04-6F4A-B6D5-9A00C244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6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9C4AF-5C14-764E-AFF9-9D7D1214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2DA6E-F87C-3B4B-9FEE-9A2BC6819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7BDB0-2E05-184B-9774-4FCEA3D2F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D6393-998A-724A-BAEE-362714872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CBD95-8D70-AE44-ADCC-22798BBB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3B8CC-3A3C-A443-8FEE-8121416D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1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C4DB-E777-1B41-AFDA-1A93056A8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F19E5-C8B5-864A-9A77-AA95A5BCA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5AF27-076F-8F4E-BA34-3B82ACEC7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3EAAC8-6C12-1944-B0A6-A8C09717F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FC15F-D2BF-AD4B-8DB3-CEFF700C1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596D5-29C9-484C-A99F-2FF59B54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C2A2DA-795A-8241-BD78-1F78898C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7ED9DF-C19B-9D4B-83BE-C8E5D25E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2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4E50-5847-5F4B-B7D8-0484B3B1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2E4BE-1E90-CF4A-9E05-1C37F5FE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102EA-553A-FA4A-B9BE-C645425C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4BF3A-7AE7-8A4A-8145-190B1C0B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3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D90B1F-05DF-7447-B39D-EBD6B4A9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A215A-C7AF-5F43-ADCC-80DB93E9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C2A5E-6BC9-A942-BB50-38225ADF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4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5075-E656-0D40-9964-2725F65D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CCA3F-F3CD-414A-A4F4-973CF5BE1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8E826-A9FD-AD4A-8C53-5D066762A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4BDE-0759-D54E-B21E-268C69B0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0B905-644F-3E47-9CD3-2DCD997DB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E07E7-8ED9-4743-8D36-5578CF00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9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E00B-6D44-0D42-8AA7-DF923CDC6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4223B1-2A44-BB40-9D9A-3E63A118D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BC7BA-9374-8D41-907F-D236C3EE5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9E207-8FB6-9044-AF9F-E6395654E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27CBC-C468-8A4D-8D7C-97084E4E5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9AC7A-E4AC-294A-BBCF-4F673843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26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2A36-515D-704F-8DEF-5D61DF0F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22495-B893-6E48-A059-0E8B08426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4CBB7-E826-794B-BDE5-4BE5EBE16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D0A32-03C5-DE47-93E1-BACD7DE4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B5531-740F-9646-96CC-9BBA0F0E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9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EFC580-304B-E645-8A33-FFB894215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3D6B9-BF37-6E46-9EBD-147DB4F20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96A3E-4068-A84E-8DE8-B9EA1D7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76372-2268-9441-B54F-9FB2F5E2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D1CCF-90CC-BD4F-8E0C-12952921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7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C5160-7EDD-F542-AF44-D3FD629E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A29D3-8B62-6540-A9F4-7EA367E44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92B36-574D-4A44-A286-54F286839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CC827-5CB2-0743-957C-0D6DD99AFC40}" type="datetimeFigureOut">
              <a:rPr lang="en-US" smtClean="0"/>
              <a:t>9/24/20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3CD1F-E68B-6D4B-A42F-225EA8C01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026E5-D35E-5F45-97C3-AA376C355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4B810-6D9B-864A-B7F0-27969B52B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3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BB96-7996-6B45-A993-0A67FD32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Study of Quantitative and Formal Political Methodology for a Political Science PhD.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CF94CD-651D-0E45-9F1B-05AFC5F98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704" y="2114934"/>
            <a:ext cx="1313447" cy="166369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30366A-4A96-7C4E-9126-F5914F8A2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168" y="2114935"/>
            <a:ext cx="1219200" cy="1663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1A7F8E-1500-8B4A-8E6E-E7CC4648E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461" y="2114934"/>
            <a:ext cx="1663699" cy="1663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693A2E-8C22-5447-B2DB-5DC345F79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105" y="2114934"/>
            <a:ext cx="1219200" cy="16396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F0BC7-9DAC-D748-BB7B-4E9E99C1B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9631" y="2123392"/>
            <a:ext cx="1219200" cy="1663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69AE2F-5A2A-8B45-897B-D188461252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776" y="2123392"/>
            <a:ext cx="11557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5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7C8424-5B95-AA4A-9AD8-CBC9E887C871}"/>
              </a:ext>
            </a:extLst>
          </p:cNvPr>
          <p:cNvSpPr txBox="1"/>
          <p:nvPr/>
        </p:nvSpPr>
        <p:spPr>
          <a:xfrm>
            <a:off x="1889901" y="38862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30901: GT I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66B87-F8C2-8E4E-A7EF-C71B965DDDA7}"/>
              </a:ext>
            </a:extLst>
          </p:cNvPr>
          <p:cNvSpPr txBox="1"/>
          <p:nvPr/>
        </p:nvSpPr>
        <p:spPr>
          <a:xfrm>
            <a:off x="1889901" y="241385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43401: MFPM</a:t>
            </a:r>
          </a:p>
          <a:p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8DD307A-EDEC-164B-854C-1CE3A6EF9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01" y="1582001"/>
            <a:ext cx="1219200" cy="1663700"/>
          </a:xfrm>
          <a:prstGeom prst="rect">
            <a:avLst/>
          </a:prstGeom>
        </p:spPr>
      </p:pic>
      <p:pic>
        <p:nvPicPr>
          <p:cNvPr id="56" name="Content Placeholder 3">
            <a:extLst>
              <a:ext uri="{FF2B5EF4-FFF2-40B4-BE49-F238E27FC236}">
                <a16:creationId xmlns:a16="http://schemas.microsoft.com/office/drawing/2014/main" id="{198490CF-375E-F84D-9E2F-7321F1AFE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301" y="3136901"/>
            <a:ext cx="1313447" cy="166369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03AEFC4-5876-F341-A391-93B26793D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878" y="143623"/>
            <a:ext cx="3711942" cy="287675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D2CB6E7-8721-9048-8BA4-D58F7D371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064" y="3136901"/>
            <a:ext cx="4872103" cy="314161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A0C85CC-C7D4-AB41-9EBB-2DD54472D1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2875" y="464401"/>
            <a:ext cx="27940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7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7C8424-5B95-AA4A-9AD8-CBC9E887C871}"/>
              </a:ext>
            </a:extLst>
          </p:cNvPr>
          <p:cNvSpPr txBox="1"/>
          <p:nvPr/>
        </p:nvSpPr>
        <p:spPr>
          <a:xfrm>
            <a:off x="1889901" y="38862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30901: GT I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66B87-F8C2-8E4E-A7EF-C71B965DDDA7}"/>
              </a:ext>
            </a:extLst>
          </p:cNvPr>
          <p:cNvSpPr txBox="1"/>
          <p:nvPr/>
        </p:nvSpPr>
        <p:spPr>
          <a:xfrm>
            <a:off x="1889901" y="241385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43401: MFPM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FE470-2A91-7B4C-86A4-65A7D032FA0E}"/>
              </a:ext>
            </a:extLst>
          </p:cNvPr>
          <p:cNvSpPr txBox="1"/>
          <p:nvPr/>
        </p:nvSpPr>
        <p:spPr>
          <a:xfrm>
            <a:off x="3991546" y="388620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31000: GT II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093AA-E8FF-2B40-AE08-A22FC0D2DF3D}"/>
              </a:ext>
            </a:extLst>
          </p:cNvPr>
          <p:cNvSpPr txBox="1"/>
          <p:nvPr/>
        </p:nvSpPr>
        <p:spPr>
          <a:xfrm>
            <a:off x="3991546" y="119295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30700: ILM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69FE1-38DA-C44B-945A-BBAC022E157E}"/>
              </a:ext>
            </a:extLst>
          </p:cNvPr>
          <p:cNvSpPr txBox="1"/>
          <p:nvPr/>
        </p:nvSpPr>
        <p:spPr>
          <a:xfrm>
            <a:off x="3991546" y="526673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PPHA 40102:</a:t>
            </a:r>
          </a:p>
          <a:p>
            <a:r>
              <a:rPr lang="en-US" dirty="0"/>
              <a:t>FMDP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2FAEE4D-A48A-F44D-9BA7-01DA00689F0B}"/>
              </a:ext>
            </a:extLst>
          </p:cNvPr>
          <p:cNvSpPr/>
          <p:nvPr/>
        </p:nvSpPr>
        <p:spPr>
          <a:xfrm rot="16200000">
            <a:off x="4026908" y="-1883333"/>
            <a:ext cx="300796" cy="529677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943E1F-D0A8-F14F-89F2-EE812E8B07EA}"/>
              </a:ext>
            </a:extLst>
          </p:cNvPr>
          <p:cNvSpPr txBox="1"/>
          <p:nvPr/>
        </p:nvSpPr>
        <p:spPr>
          <a:xfrm>
            <a:off x="3834580" y="237329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708678-FB04-FC44-B59B-513717AD3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793" y="923451"/>
            <a:ext cx="1219200" cy="16396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207F1E-6B19-2843-A2C4-9B7F162BE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793" y="3293870"/>
            <a:ext cx="1663699" cy="16636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EC4694-9C04-5247-8042-FB78E11CD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880" y="4858445"/>
            <a:ext cx="1155700" cy="1739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616230-617E-4349-8BA5-3C1C5CBB8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568" y="770886"/>
            <a:ext cx="2888577" cy="21001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3A5EE2-52B4-6A4A-9E4B-DE9294883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4293" y="3256702"/>
            <a:ext cx="2742851" cy="2010028"/>
          </a:xfrm>
          <a:prstGeom prst="rect">
            <a:avLst/>
          </a:prstGeom>
        </p:spPr>
      </p:pic>
      <p:pic>
        <p:nvPicPr>
          <p:cNvPr id="11" name="Picture 10" descr="A close up of a map&#10;&#10;Description automatically generated">
            <a:extLst>
              <a:ext uri="{FF2B5EF4-FFF2-40B4-BE49-F238E27FC236}">
                <a16:creationId xmlns:a16="http://schemas.microsoft.com/office/drawing/2014/main" id="{FCC2FAAB-6D07-7941-B13C-F5C969939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42" y="4809530"/>
            <a:ext cx="2466955" cy="201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7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80562F-DD2A-6A4F-B538-CD0B21CDF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0" y="946150"/>
            <a:ext cx="65405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7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276888-4446-594F-BE4F-7577FA40E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0" y="946150"/>
            <a:ext cx="65405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31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80562F-DD2A-6A4F-B538-CD0B21CDF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0" y="946150"/>
            <a:ext cx="65405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72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E89F5-203E-9A41-BA5C-CA40B534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0" y="946150"/>
            <a:ext cx="65405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78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E9B59A-879A-734B-8388-A481B011E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0" y="946150"/>
            <a:ext cx="65405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44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9813C69-D000-A848-A15E-BE030D097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0" y="946150"/>
            <a:ext cx="65405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50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276888-4446-594F-BE4F-7577FA40E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0" y="946150"/>
            <a:ext cx="6540500" cy="49657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D133CC-D1D5-D04F-9CB8-E1EB12F82F5A}"/>
              </a:ext>
            </a:extLst>
          </p:cNvPr>
          <p:cNvCxnSpPr>
            <a:cxnSpLocks/>
          </p:cNvCxnSpPr>
          <p:nvPr/>
        </p:nvCxnSpPr>
        <p:spPr>
          <a:xfrm flipH="1" flipV="1">
            <a:off x="6762308" y="1701210"/>
            <a:ext cx="368594" cy="276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2344F1-B7B6-664B-8CAE-225C717DE470}"/>
              </a:ext>
            </a:extLst>
          </p:cNvPr>
          <p:cNvCxnSpPr>
            <a:cxnSpLocks/>
          </p:cNvCxnSpPr>
          <p:nvPr/>
        </p:nvCxnSpPr>
        <p:spPr>
          <a:xfrm flipH="1" flipV="1">
            <a:off x="6243639" y="2257426"/>
            <a:ext cx="307180" cy="237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953E1E-A5B3-0B46-8B0F-4A52088571B7}"/>
              </a:ext>
            </a:extLst>
          </p:cNvPr>
          <p:cNvCxnSpPr>
            <a:cxnSpLocks/>
          </p:cNvCxnSpPr>
          <p:nvPr/>
        </p:nvCxnSpPr>
        <p:spPr>
          <a:xfrm>
            <a:off x="6657921" y="2494996"/>
            <a:ext cx="620232" cy="510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A0487F-CE30-3D4B-9F58-C84249BF6CFE}"/>
              </a:ext>
            </a:extLst>
          </p:cNvPr>
          <p:cNvCxnSpPr>
            <a:cxnSpLocks/>
          </p:cNvCxnSpPr>
          <p:nvPr/>
        </p:nvCxnSpPr>
        <p:spPr>
          <a:xfrm>
            <a:off x="5954233" y="3173819"/>
            <a:ext cx="682256" cy="510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9DDDD2-A788-A04A-A191-B48AE0F2C63E}"/>
              </a:ext>
            </a:extLst>
          </p:cNvPr>
          <p:cNvCxnSpPr>
            <a:cxnSpLocks/>
          </p:cNvCxnSpPr>
          <p:nvPr/>
        </p:nvCxnSpPr>
        <p:spPr>
          <a:xfrm flipH="1" flipV="1">
            <a:off x="4281598" y="4160653"/>
            <a:ext cx="361840" cy="339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E70C77-7588-EC46-B28B-630A3BFFB12F}"/>
              </a:ext>
            </a:extLst>
          </p:cNvPr>
          <p:cNvCxnSpPr>
            <a:cxnSpLocks/>
          </p:cNvCxnSpPr>
          <p:nvPr/>
        </p:nvCxnSpPr>
        <p:spPr>
          <a:xfrm flipH="1" flipV="1">
            <a:off x="4662596" y="3806455"/>
            <a:ext cx="361840" cy="339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5B60CB-8FE7-7C47-B813-842C8EF932E1}"/>
              </a:ext>
            </a:extLst>
          </p:cNvPr>
          <p:cNvCxnSpPr>
            <a:cxnSpLocks/>
          </p:cNvCxnSpPr>
          <p:nvPr/>
        </p:nvCxnSpPr>
        <p:spPr>
          <a:xfrm>
            <a:off x="5326855" y="3836598"/>
            <a:ext cx="288133" cy="249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29B82D-DB4E-9F4B-8B1F-563C42B60CF7}"/>
              </a:ext>
            </a:extLst>
          </p:cNvPr>
          <p:cNvCxnSpPr>
            <a:cxnSpLocks/>
          </p:cNvCxnSpPr>
          <p:nvPr/>
        </p:nvCxnSpPr>
        <p:spPr>
          <a:xfrm flipH="1" flipV="1">
            <a:off x="5243886" y="3021403"/>
            <a:ext cx="463970" cy="357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636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7C8424-5B95-AA4A-9AD8-CBC9E887C871}"/>
              </a:ext>
            </a:extLst>
          </p:cNvPr>
          <p:cNvSpPr txBox="1"/>
          <p:nvPr/>
        </p:nvSpPr>
        <p:spPr>
          <a:xfrm>
            <a:off x="1889901" y="38862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30901: GT I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66B87-F8C2-8E4E-A7EF-C71B965DDDA7}"/>
              </a:ext>
            </a:extLst>
          </p:cNvPr>
          <p:cNvSpPr txBox="1"/>
          <p:nvPr/>
        </p:nvSpPr>
        <p:spPr>
          <a:xfrm>
            <a:off x="1889901" y="241385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43401: MFPM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FE470-2A91-7B4C-86A4-65A7D032FA0E}"/>
              </a:ext>
            </a:extLst>
          </p:cNvPr>
          <p:cNvSpPr txBox="1"/>
          <p:nvPr/>
        </p:nvSpPr>
        <p:spPr>
          <a:xfrm>
            <a:off x="3991546" y="388620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31000: GT II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093AA-E8FF-2B40-AE08-A22FC0D2DF3D}"/>
              </a:ext>
            </a:extLst>
          </p:cNvPr>
          <p:cNvSpPr txBox="1"/>
          <p:nvPr/>
        </p:nvSpPr>
        <p:spPr>
          <a:xfrm>
            <a:off x="3991546" y="119295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30700: ILM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69FE1-38DA-C44B-945A-BBAC022E157E}"/>
              </a:ext>
            </a:extLst>
          </p:cNvPr>
          <p:cNvSpPr txBox="1"/>
          <p:nvPr/>
        </p:nvSpPr>
        <p:spPr>
          <a:xfrm>
            <a:off x="3991546" y="526673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PPHA 40102:</a:t>
            </a:r>
          </a:p>
          <a:p>
            <a:r>
              <a:rPr lang="en-US" dirty="0"/>
              <a:t>FMDP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2FAEE4D-A48A-F44D-9BA7-01DA00689F0B}"/>
              </a:ext>
            </a:extLst>
          </p:cNvPr>
          <p:cNvSpPr/>
          <p:nvPr/>
        </p:nvSpPr>
        <p:spPr>
          <a:xfrm rot="16200000">
            <a:off x="4026908" y="-1883333"/>
            <a:ext cx="300796" cy="529677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943E1F-D0A8-F14F-89F2-EE812E8B07EA}"/>
              </a:ext>
            </a:extLst>
          </p:cNvPr>
          <p:cNvSpPr txBox="1"/>
          <p:nvPr/>
        </p:nvSpPr>
        <p:spPr>
          <a:xfrm>
            <a:off x="3834580" y="237329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708678-FB04-FC44-B59B-513717AD3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793" y="923451"/>
            <a:ext cx="1219200" cy="16396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207F1E-6B19-2843-A2C4-9B7F162BE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793" y="3293870"/>
            <a:ext cx="1663699" cy="16636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EC4694-9C04-5247-8042-FB78E11CD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880" y="4858445"/>
            <a:ext cx="1155700" cy="1739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616230-617E-4349-8BA5-3C1C5CBB8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568" y="770886"/>
            <a:ext cx="2888577" cy="21001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3A5EE2-52B4-6A4A-9E4B-DE9294883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4293" y="3256702"/>
            <a:ext cx="2742851" cy="2010028"/>
          </a:xfrm>
          <a:prstGeom prst="rect">
            <a:avLst/>
          </a:prstGeom>
        </p:spPr>
      </p:pic>
      <p:pic>
        <p:nvPicPr>
          <p:cNvPr id="11" name="Picture 10" descr="A close up of a map&#10;&#10;Description automatically generated">
            <a:extLst>
              <a:ext uri="{FF2B5EF4-FFF2-40B4-BE49-F238E27FC236}">
                <a16:creationId xmlns:a16="http://schemas.microsoft.com/office/drawing/2014/main" id="{FCC2FAAB-6D07-7941-B13C-F5C9699395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42" y="4809530"/>
            <a:ext cx="2466955" cy="201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54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7C8424-5B95-AA4A-9AD8-CBC9E887C871}"/>
              </a:ext>
            </a:extLst>
          </p:cNvPr>
          <p:cNvSpPr txBox="1"/>
          <p:nvPr/>
        </p:nvSpPr>
        <p:spPr>
          <a:xfrm>
            <a:off x="1889901" y="38862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30901: GT I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66B87-F8C2-8E4E-A7EF-C71B965DDDA7}"/>
              </a:ext>
            </a:extLst>
          </p:cNvPr>
          <p:cNvSpPr txBox="1"/>
          <p:nvPr/>
        </p:nvSpPr>
        <p:spPr>
          <a:xfrm>
            <a:off x="1889901" y="241385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43401: MFPM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FE470-2A91-7B4C-86A4-65A7D032FA0E}"/>
              </a:ext>
            </a:extLst>
          </p:cNvPr>
          <p:cNvSpPr txBox="1"/>
          <p:nvPr/>
        </p:nvSpPr>
        <p:spPr>
          <a:xfrm>
            <a:off x="3991546" y="388620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31000: GT II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093AA-E8FF-2B40-AE08-A22FC0D2DF3D}"/>
              </a:ext>
            </a:extLst>
          </p:cNvPr>
          <p:cNvSpPr txBox="1"/>
          <p:nvPr/>
        </p:nvSpPr>
        <p:spPr>
          <a:xfrm>
            <a:off x="3991546" y="119295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30700: ILM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69FE1-38DA-C44B-945A-BBAC022E157E}"/>
              </a:ext>
            </a:extLst>
          </p:cNvPr>
          <p:cNvSpPr txBox="1"/>
          <p:nvPr/>
        </p:nvSpPr>
        <p:spPr>
          <a:xfrm>
            <a:off x="3991546" y="526673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PPHA 40102:</a:t>
            </a:r>
          </a:p>
          <a:p>
            <a:r>
              <a:rPr lang="en-US" dirty="0"/>
              <a:t>FMDP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2FAEE4D-A48A-F44D-9BA7-01DA00689F0B}"/>
              </a:ext>
            </a:extLst>
          </p:cNvPr>
          <p:cNvSpPr/>
          <p:nvPr/>
        </p:nvSpPr>
        <p:spPr>
          <a:xfrm rot="16200000">
            <a:off x="4026908" y="-1883333"/>
            <a:ext cx="300796" cy="529677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943E1F-D0A8-F14F-89F2-EE812E8B07EA}"/>
              </a:ext>
            </a:extLst>
          </p:cNvPr>
          <p:cNvSpPr txBox="1"/>
          <p:nvPr/>
        </p:nvSpPr>
        <p:spPr>
          <a:xfrm>
            <a:off x="3834580" y="237329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1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EC528CC7-8E0A-D343-BF36-55AE94A2D868}"/>
              </a:ext>
            </a:extLst>
          </p:cNvPr>
          <p:cNvCxnSpPr>
            <a:cxnSpLocks/>
          </p:cNvCxnSpPr>
          <p:nvPr/>
        </p:nvCxnSpPr>
        <p:spPr>
          <a:xfrm flipV="1">
            <a:off x="2876637" y="1650155"/>
            <a:ext cx="1114909" cy="851665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98DD7B69-1569-D14A-8C2A-EBC338DBDA22}"/>
              </a:ext>
            </a:extLst>
          </p:cNvPr>
          <p:cNvCxnSpPr>
            <a:cxnSpLocks/>
          </p:cNvCxnSpPr>
          <p:nvPr/>
        </p:nvCxnSpPr>
        <p:spPr>
          <a:xfrm>
            <a:off x="2847491" y="3069782"/>
            <a:ext cx="1114909" cy="1028760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28954A2D-7CAA-C945-8855-EC8D9FFB5B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95851" y="3302690"/>
            <a:ext cx="1821897" cy="1694660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27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7C8424-5B95-AA4A-9AD8-CBC9E887C871}"/>
              </a:ext>
            </a:extLst>
          </p:cNvPr>
          <p:cNvSpPr txBox="1"/>
          <p:nvPr/>
        </p:nvSpPr>
        <p:spPr>
          <a:xfrm>
            <a:off x="1889901" y="38862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30901: GT I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66B87-F8C2-8E4E-A7EF-C71B965DDDA7}"/>
              </a:ext>
            </a:extLst>
          </p:cNvPr>
          <p:cNvSpPr txBox="1"/>
          <p:nvPr/>
        </p:nvSpPr>
        <p:spPr>
          <a:xfrm>
            <a:off x="1889901" y="241385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43401: MFPM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FE470-2A91-7B4C-86A4-65A7D032FA0E}"/>
              </a:ext>
            </a:extLst>
          </p:cNvPr>
          <p:cNvSpPr txBox="1"/>
          <p:nvPr/>
        </p:nvSpPr>
        <p:spPr>
          <a:xfrm>
            <a:off x="3991546" y="388620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31000: GT II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093AA-E8FF-2B40-AE08-A22FC0D2DF3D}"/>
              </a:ext>
            </a:extLst>
          </p:cNvPr>
          <p:cNvSpPr txBox="1"/>
          <p:nvPr/>
        </p:nvSpPr>
        <p:spPr>
          <a:xfrm>
            <a:off x="3991546" y="119295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30700: ILM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69FE1-38DA-C44B-945A-BBAC022E157E}"/>
              </a:ext>
            </a:extLst>
          </p:cNvPr>
          <p:cNvSpPr txBox="1"/>
          <p:nvPr/>
        </p:nvSpPr>
        <p:spPr>
          <a:xfrm>
            <a:off x="3991546" y="526673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PPHA 40102:</a:t>
            </a:r>
          </a:p>
          <a:p>
            <a:r>
              <a:rPr lang="en-US" dirty="0"/>
              <a:t>FMDP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2FAEE4D-A48A-F44D-9BA7-01DA00689F0B}"/>
              </a:ext>
            </a:extLst>
          </p:cNvPr>
          <p:cNvSpPr/>
          <p:nvPr/>
        </p:nvSpPr>
        <p:spPr>
          <a:xfrm rot="16200000">
            <a:off x="4026908" y="-1883333"/>
            <a:ext cx="300796" cy="529677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943E1F-D0A8-F14F-89F2-EE812E8B07EA}"/>
              </a:ext>
            </a:extLst>
          </p:cNvPr>
          <p:cNvSpPr txBox="1"/>
          <p:nvPr/>
        </p:nvSpPr>
        <p:spPr>
          <a:xfrm>
            <a:off x="3834580" y="237329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1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EC528CC7-8E0A-D343-BF36-55AE94A2D868}"/>
              </a:ext>
            </a:extLst>
          </p:cNvPr>
          <p:cNvCxnSpPr>
            <a:cxnSpLocks/>
          </p:cNvCxnSpPr>
          <p:nvPr/>
        </p:nvCxnSpPr>
        <p:spPr>
          <a:xfrm flipV="1">
            <a:off x="2876637" y="1650155"/>
            <a:ext cx="1114909" cy="851665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98DD7B69-1569-D14A-8C2A-EBC338DBDA22}"/>
              </a:ext>
            </a:extLst>
          </p:cNvPr>
          <p:cNvCxnSpPr>
            <a:cxnSpLocks/>
          </p:cNvCxnSpPr>
          <p:nvPr/>
        </p:nvCxnSpPr>
        <p:spPr>
          <a:xfrm>
            <a:off x="2847491" y="3069782"/>
            <a:ext cx="1114909" cy="1028760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0FDC1C-DF1F-154B-AEAA-81CFD369E17B}"/>
              </a:ext>
            </a:extLst>
          </p:cNvPr>
          <p:cNvCxnSpPr>
            <a:cxnSpLocks/>
          </p:cNvCxnSpPr>
          <p:nvPr/>
        </p:nvCxnSpPr>
        <p:spPr>
          <a:xfrm>
            <a:off x="2675078" y="4367957"/>
            <a:ext cx="1030279" cy="144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84DC46-CC25-5E4E-81FD-93733AFB48A4}"/>
              </a:ext>
            </a:extLst>
          </p:cNvPr>
          <p:cNvCxnSpPr>
            <a:cxnSpLocks/>
          </p:cNvCxnSpPr>
          <p:nvPr/>
        </p:nvCxnSpPr>
        <p:spPr>
          <a:xfrm>
            <a:off x="2653128" y="4618197"/>
            <a:ext cx="1181452" cy="11101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2AFD8138-01C3-584E-8AAB-8C8F0E2E6F9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95851" y="3302690"/>
            <a:ext cx="1821897" cy="1694660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025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A66B87-F8C2-8E4E-A7EF-C71B965DDDA7}"/>
              </a:ext>
            </a:extLst>
          </p:cNvPr>
          <p:cNvSpPr txBox="1"/>
          <p:nvPr/>
        </p:nvSpPr>
        <p:spPr>
          <a:xfrm>
            <a:off x="1889901" y="241385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43401: MFPM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093AA-E8FF-2B40-AE08-A22FC0D2DF3D}"/>
              </a:ext>
            </a:extLst>
          </p:cNvPr>
          <p:cNvSpPr txBox="1"/>
          <p:nvPr/>
        </p:nvSpPr>
        <p:spPr>
          <a:xfrm>
            <a:off x="3991546" y="119295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30700: ILM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0F264-8B75-8B46-AEB0-BF4E7FCEE69B}"/>
              </a:ext>
            </a:extLst>
          </p:cNvPr>
          <p:cNvSpPr txBox="1"/>
          <p:nvPr/>
        </p:nvSpPr>
        <p:spPr>
          <a:xfrm>
            <a:off x="5695684" y="1120622"/>
            <a:ext cx="91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PPHA 41102: PE II*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D46D8-6408-6D49-A0CE-DA8CDC0BEA3F}"/>
              </a:ext>
            </a:extLst>
          </p:cNvPr>
          <p:cNvSpPr txBox="1"/>
          <p:nvPr/>
        </p:nvSpPr>
        <p:spPr>
          <a:xfrm>
            <a:off x="7660031" y="1305288"/>
            <a:ext cx="23769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x2 of:</a:t>
            </a:r>
          </a:p>
          <a:p>
            <a:pPr marL="285750" indent="-285750">
              <a:buFontTx/>
              <a:buChar char="-"/>
            </a:pPr>
            <a:r>
              <a:rPr lang="en-US" dirty="0"/>
              <a:t>43100:</a:t>
            </a:r>
            <a:r>
              <a:rPr lang="en-US" b="1" dirty="0"/>
              <a:t> </a:t>
            </a:r>
            <a:r>
              <a:rPr lang="en-US" dirty="0"/>
              <a:t>MLE</a:t>
            </a:r>
          </a:p>
          <a:p>
            <a:pPr marL="285750" indent="-285750">
              <a:buFontTx/>
              <a:buChar char="-"/>
            </a:pPr>
            <a:r>
              <a:rPr lang="en-US" dirty="0"/>
              <a:t>Causal inference II </a:t>
            </a:r>
          </a:p>
          <a:p>
            <a:pPr marL="285750" indent="-285750">
              <a:buFontTx/>
              <a:buChar char="-"/>
            </a:pPr>
            <a:r>
              <a:rPr lang="en-US" dirty="0"/>
              <a:t>Multilevel modeling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Experimental design</a:t>
            </a:r>
          </a:p>
          <a:p>
            <a:endParaRPr lang="en-US" dirty="0"/>
          </a:p>
          <a:p>
            <a:r>
              <a:rPr lang="en-US" dirty="0"/>
              <a:t>*CHMD 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2FAEE4D-A48A-F44D-9BA7-01DA00689F0B}"/>
              </a:ext>
            </a:extLst>
          </p:cNvPr>
          <p:cNvSpPr/>
          <p:nvPr/>
        </p:nvSpPr>
        <p:spPr>
          <a:xfrm rot="16200000">
            <a:off x="4026908" y="-1883333"/>
            <a:ext cx="300796" cy="529677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E252F191-4E0D-184A-933A-231E4652EEA2}"/>
              </a:ext>
            </a:extLst>
          </p:cNvPr>
          <p:cNvSpPr/>
          <p:nvPr/>
        </p:nvSpPr>
        <p:spPr>
          <a:xfrm rot="16200000">
            <a:off x="9033033" y="-1313858"/>
            <a:ext cx="244406" cy="416606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943E1F-D0A8-F14F-89F2-EE812E8B07EA}"/>
              </a:ext>
            </a:extLst>
          </p:cNvPr>
          <p:cNvSpPr txBox="1"/>
          <p:nvPr/>
        </p:nvSpPr>
        <p:spPr>
          <a:xfrm>
            <a:off x="3834580" y="237329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1920DE-A979-F242-8A21-87F79A7988EC}"/>
              </a:ext>
            </a:extLst>
          </p:cNvPr>
          <p:cNvSpPr txBox="1"/>
          <p:nvPr/>
        </p:nvSpPr>
        <p:spPr>
          <a:xfrm>
            <a:off x="8824451" y="244054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2+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EC528CC7-8E0A-D343-BF36-55AE94A2D868}"/>
              </a:ext>
            </a:extLst>
          </p:cNvPr>
          <p:cNvCxnSpPr>
            <a:cxnSpLocks/>
          </p:cNvCxnSpPr>
          <p:nvPr/>
        </p:nvCxnSpPr>
        <p:spPr>
          <a:xfrm flipV="1">
            <a:off x="2876637" y="1650155"/>
            <a:ext cx="1114909" cy="851665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7B7DB75-71F5-904D-ABFF-C09F8D542A96}"/>
              </a:ext>
            </a:extLst>
          </p:cNvPr>
          <p:cNvCxnSpPr/>
          <p:nvPr/>
        </p:nvCxnSpPr>
        <p:spPr>
          <a:xfrm>
            <a:off x="4764430" y="1650155"/>
            <a:ext cx="7809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5125633-99C2-BA42-B783-5A4878CE1DBF}"/>
              </a:ext>
            </a:extLst>
          </p:cNvPr>
          <p:cNvCxnSpPr>
            <a:cxnSpLocks/>
          </p:cNvCxnSpPr>
          <p:nvPr/>
        </p:nvCxnSpPr>
        <p:spPr>
          <a:xfrm>
            <a:off x="6591122" y="1676542"/>
            <a:ext cx="1068909" cy="355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E8EB63C-FCBE-CF40-B4A7-4AC9502A3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803" y="2099003"/>
            <a:ext cx="1262737" cy="12627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CECE90-9ECF-1C4A-B356-69FFDDF12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980" y="2165377"/>
            <a:ext cx="1092555" cy="14567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9AC7CC-C88C-2A4B-AC61-3220BD47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1074" y="1000937"/>
            <a:ext cx="1366494" cy="11644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1683F5-5FFE-F046-AF41-97C60191A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229" y="2879813"/>
            <a:ext cx="1422400" cy="1422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E40879-8245-BA45-B01E-737D40FEA2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297" y="4054142"/>
            <a:ext cx="3113548" cy="26331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D9DD54-E374-4B4F-9916-D75ECEFE76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2783" y="4355824"/>
            <a:ext cx="2976751" cy="246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77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54C5A4-827C-0C4B-8C4E-1A27B69C170C}"/>
              </a:ext>
            </a:extLst>
          </p:cNvPr>
          <p:cNvSpPr/>
          <p:nvPr/>
        </p:nvSpPr>
        <p:spPr>
          <a:xfrm>
            <a:off x="1482563" y="1025013"/>
            <a:ext cx="9755707" cy="2403987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66B87-F8C2-8E4E-A7EF-C71B965DDDA7}"/>
              </a:ext>
            </a:extLst>
          </p:cNvPr>
          <p:cNvSpPr txBox="1"/>
          <p:nvPr/>
        </p:nvSpPr>
        <p:spPr>
          <a:xfrm>
            <a:off x="1889901" y="241385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43401: MFPM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093AA-E8FF-2B40-AE08-A22FC0D2DF3D}"/>
              </a:ext>
            </a:extLst>
          </p:cNvPr>
          <p:cNvSpPr txBox="1"/>
          <p:nvPr/>
        </p:nvSpPr>
        <p:spPr>
          <a:xfrm>
            <a:off x="3991546" y="119295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30700: ILM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0F264-8B75-8B46-AEB0-BF4E7FCEE69B}"/>
              </a:ext>
            </a:extLst>
          </p:cNvPr>
          <p:cNvSpPr txBox="1"/>
          <p:nvPr/>
        </p:nvSpPr>
        <p:spPr>
          <a:xfrm>
            <a:off x="5695684" y="1120622"/>
            <a:ext cx="91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PPHA 41102: PE II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D46D8-6408-6D49-A0CE-DA8CDC0BEA3F}"/>
              </a:ext>
            </a:extLst>
          </p:cNvPr>
          <p:cNvSpPr txBox="1"/>
          <p:nvPr/>
        </p:nvSpPr>
        <p:spPr>
          <a:xfrm>
            <a:off x="7660031" y="1305288"/>
            <a:ext cx="23769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x2 of:</a:t>
            </a:r>
          </a:p>
          <a:p>
            <a:pPr marL="285750" indent="-285750">
              <a:buFontTx/>
              <a:buChar char="-"/>
            </a:pPr>
            <a:r>
              <a:rPr lang="en-US" dirty="0"/>
              <a:t>43100:</a:t>
            </a:r>
            <a:r>
              <a:rPr lang="en-US" b="1" dirty="0"/>
              <a:t> </a:t>
            </a:r>
            <a:r>
              <a:rPr lang="en-US" dirty="0"/>
              <a:t>MLE</a:t>
            </a:r>
          </a:p>
          <a:p>
            <a:pPr marL="285750" indent="-285750">
              <a:buFontTx/>
              <a:buChar char="-"/>
            </a:pPr>
            <a:r>
              <a:rPr lang="en-US" dirty="0"/>
              <a:t>Causal inference II </a:t>
            </a:r>
          </a:p>
          <a:p>
            <a:pPr marL="285750" indent="-285750">
              <a:buFontTx/>
              <a:buChar char="-"/>
            </a:pPr>
            <a:r>
              <a:rPr lang="en-US" dirty="0"/>
              <a:t>Multilevel modeling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Experimental design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2FAEE4D-A48A-F44D-9BA7-01DA00689F0B}"/>
              </a:ext>
            </a:extLst>
          </p:cNvPr>
          <p:cNvSpPr/>
          <p:nvPr/>
        </p:nvSpPr>
        <p:spPr>
          <a:xfrm rot="16200000">
            <a:off x="4026908" y="-1883333"/>
            <a:ext cx="300796" cy="529677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E252F191-4E0D-184A-933A-231E4652EEA2}"/>
              </a:ext>
            </a:extLst>
          </p:cNvPr>
          <p:cNvSpPr/>
          <p:nvPr/>
        </p:nvSpPr>
        <p:spPr>
          <a:xfrm rot="16200000">
            <a:off x="9033033" y="-1313858"/>
            <a:ext cx="244406" cy="416606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943E1F-D0A8-F14F-89F2-EE812E8B07EA}"/>
              </a:ext>
            </a:extLst>
          </p:cNvPr>
          <p:cNvSpPr txBox="1"/>
          <p:nvPr/>
        </p:nvSpPr>
        <p:spPr>
          <a:xfrm>
            <a:off x="3834580" y="237329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1920DE-A979-F242-8A21-87F79A7988EC}"/>
              </a:ext>
            </a:extLst>
          </p:cNvPr>
          <p:cNvSpPr txBox="1"/>
          <p:nvPr/>
        </p:nvSpPr>
        <p:spPr>
          <a:xfrm>
            <a:off x="8824451" y="244054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2+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EC528CC7-8E0A-D343-BF36-55AE94A2D868}"/>
              </a:ext>
            </a:extLst>
          </p:cNvPr>
          <p:cNvCxnSpPr>
            <a:cxnSpLocks/>
          </p:cNvCxnSpPr>
          <p:nvPr/>
        </p:nvCxnSpPr>
        <p:spPr>
          <a:xfrm flipV="1">
            <a:off x="2876637" y="1650155"/>
            <a:ext cx="1114909" cy="851665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7B7DB75-71F5-904D-ABFF-C09F8D542A96}"/>
              </a:ext>
            </a:extLst>
          </p:cNvPr>
          <p:cNvCxnSpPr/>
          <p:nvPr/>
        </p:nvCxnSpPr>
        <p:spPr>
          <a:xfrm>
            <a:off x="4764430" y="1650155"/>
            <a:ext cx="7809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5125633-99C2-BA42-B783-5A4878CE1DBF}"/>
              </a:ext>
            </a:extLst>
          </p:cNvPr>
          <p:cNvCxnSpPr>
            <a:cxnSpLocks/>
          </p:cNvCxnSpPr>
          <p:nvPr/>
        </p:nvCxnSpPr>
        <p:spPr>
          <a:xfrm>
            <a:off x="6591122" y="1676542"/>
            <a:ext cx="1068909" cy="355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113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CB8CF60-30E2-BF4C-AFD0-28FDB1117274}"/>
              </a:ext>
            </a:extLst>
          </p:cNvPr>
          <p:cNvSpPr/>
          <p:nvPr/>
        </p:nvSpPr>
        <p:spPr>
          <a:xfrm>
            <a:off x="1482563" y="2107355"/>
            <a:ext cx="5343132" cy="4082705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C8424-5B95-AA4A-9AD8-CBC9E887C871}"/>
              </a:ext>
            </a:extLst>
          </p:cNvPr>
          <p:cNvSpPr txBox="1"/>
          <p:nvPr/>
        </p:nvSpPr>
        <p:spPr>
          <a:xfrm>
            <a:off x="1889901" y="38862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30901: GT I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66B87-F8C2-8E4E-A7EF-C71B965DDDA7}"/>
              </a:ext>
            </a:extLst>
          </p:cNvPr>
          <p:cNvSpPr txBox="1"/>
          <p:nvPr/>
        </p:nvSpPr>
        <p:spPr>
          <a:xfrm>
            <a:off x="1889901" y="241385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43401: MFPM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FE470-2A91-7B4C-86A4-65A7D032FA0E}"/>
              </a:ext>
            </a:extLst>
          </p:cNvPr>
          <p:cNvSpPr txBox="1"/>
          <p:nvPr/>
        </p:nvSpPr>
        <p:spPr>
          <a:xfrm>
            <a:off x="3991546" y="388620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31000: GT II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69FE1-38DA-C44B-945A-BBAC022E157E}"/>
              </a:ext>
            </a:extLst>
          </p:cNvPr>
          <p:cNvSpPr txBox="1"/>
          <p:nvPr/>
        </p:nvSpPr>
        <p:spPr>
          <a:xfrm>
            <a:off x="3991546" y="526673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PPHA 40102:</a:t>
            </a:r>
          </a:p>
          <a:p>
            <a:r>
              <a:rPr lang="en-US" dirty="0"/>
              <a:t>FMDP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2FAEE4D-A48A-F44D-9BA7-01DA00689F0B}"/>
              </a:ext>
            </a:extLst>
          </p:cNvPr>
          <p:cNvSpPr/>
          <p:nvPr/>
        </p:nvSpPr>
        <p:spPr>
          <a:xfrm rot="16200000">
            <a:off x="4026908" y="-1883333"/>
            <a:ext cx="300796" cy="529677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943E1F-D0A8-F14F-89F2-EE812E8B07EA}"/>
              </a:ext>
            </a:extLst>
          </p:cNvPr>
          <p:cNvSpPr txBox="1"/>
          <p:nvPr/>
        </p:nvSpPr>
        <p:spPr>
          <a:xfrm>
            <a:off x="3834580" y="237329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1+</a:t>
            </a:r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98DD7B69-1569-D14A-8C2A-EBC338DBDA22}"/>
              </a:ext>
            </a:extLst>
          </p:cNvPr>
          <p:cNvCxnSpPr>
            <a:cxnSpLocks/>
          </p:cNvCxnSpPr>
          <p:nvPr/>
        </p:nvCxnSpPr>
        <p:spPr>
          <a:xfrm>
            <a:off x="2847491" y="3069782"/>
            <a:ext cx="1114909" cy="1028760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0FDC1C-DF1F-154B-AEAA-81CFD369E17B}"/>
              </a:ext>
            </a:extLst>
          </p:cNvPr>
          <p:cNvCxnSpPr>
            <a:cxnSpLocks/>
          </p:cNvCxnSpPr>
          <p:nvPr/>
        </p:nvCxnSpPr>
        <p:spPr>
          <a:xfrm>
            <a:off x="2675078" y="4367957"/>
            <a:ext cx="1030279" cy="144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BE31C1-7D01-AF44-9E31-4EE9373C02A3}"/>
              </a:ext>
            </a:extLst>
          </p:cNvPr>
          <p:cNvCxnSpPr/>
          <p:nvPr/>
        </p:nvCxnSpPr>
        <p:spPr>
          <a:xfrm>
            <a:off x="4905946" y="4352330"/>
            <a:ext cx="7809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84DC46-CC25-5E4E-81FD-93733AFB48A4}"/>
              </a:ext>
            </a:extLst>
          </p:cNvPr>
          <p:cNvCxnSpPr>
            <a:cxnSpLocks/>
          </p:cNvCxnSpPr>
          <p:nvPr/>
        </p:nvCxnSpPr>
        <p:spPr>
          <a:xfrm>
            <a:off x="2653128" y="4618197"/>
            <a:ext cx="1181452" cy="11101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2AFD8138-01C3-584E-8AAB-8C8F0E2E6F9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95851" y="3302690"/>
            <a:ext cx="1821897" cy="1694660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CDAB27E-41D8-B74C-8B3A-DE9293441A8A}"/>
              </a:ext>
            </a:extLst>
          </p:cNvPr>
          <p:cNvSpPr txBox="1"/>
          <p:nvPr/>
        </p:nvSpPr>
        <p:spPr>
          <a:xfrm>
            <a:off x="5695684" y="3895130"/>
            <a:ext cx="91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of</a:t>
            </a:r>
          </a:p>
          <a:p>
            <a:r>
              <a:rPr lang="en-US" dirty="0"/>
              <a:t>40815: NDFT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40801:</a:t>
            </a:r>
          </a:p>
          <a:p>
            <a:r>
              <a:rPr lang="en-US" dirty="0"/>
              <a:t>Social Choice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77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CB8CF60-30E2-BF4C-AFD0-28FDB1117274}"/>
              </a:ext>
            </a:extLst>
          </p:cNvPr>
          <p:cNvSpPr/>
          <p:nvPr/>
        </p:nvSpPr>
        <p:spPr>
          <a:xfrm>
            <a:off x="1482563" y="2107355"/>
            <a:ext cx="5343132" cy="4082705"/>
          </a:xfrm>
          <a:prstGeom prst="roundRect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54C5A4-827C-0C4B-8C4E-1A27B69C170C}"/>
              </a:ext>
            </a:extLst>
          </p:cNvPr>
          <p:cNvSpPr/>
          <p:nvPr/>
        </p:nvSpPr>
        <p:spPr>
          <a:xfrm>
            <a:off x="1482563" y="1025013"/>
            <a:ext cx="9755707" cy="2403987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C8424-5B95-AA4A-9AD8-CBC9E887C871}"/>
              </a:ext>
            </a:extLst>
          </p:cNvPr>
          <p:cNvSpPr txBox="1"/>
          <p:nvPr/>
        </p:nvSpPr>
        <p:spPr>
          <a:xfrm>
            <a:off x="1889901" y="38862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30901: GT I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66B87-F8C2-8E4E-A7EF-C71B965DDDA7}"/>
              </a:ext>
            </a:extLst>
          </p:cNvPr>
          <p:cNvSpPr txBox="1"/>
          <p:nvPr/>
        </p:nvSpPr>
        <p:spPr>
          <a:xfrm>
            <a:off x="1889901" y="241385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43401: MFPM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FE470-2A91-7B4C-86A4-65A7D032FA0E}"/>
              </a:ext>
            </a:extLst>
          </p:cNvPr>
          <p:cNvSpPr txBox="1"/>
          <p:nvPr/>
        </p:nvSpPr>
        <p:spPr>
          <a:xfrm>
            <a:off x="3991546" y="388620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31000: GT II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093AA-E8FF-2B40-AE08-A22FC0D2DF3D}"/>
              </a:ext>
            </a:extLst>
          </p:cNvPr>
          <p:cNvSpPr txBox="1"/>
          <p:nvPr/>
        </p:nvSpPr>
        <p:spPr>
          <a:xfrm>
            <a:off x="3991546" y="119295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30700: ILM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0F264-8B75-8B46-AEB0-BF4E7FCEE69B}"/>
              </a:ext>
            </a:extLst>
          </p:cNvPr>
          <p:cNvSpPr txBox="1"/>
          <p:nvPr/>
        </p:nvSpPr>
        <p:spPr>
          <a:xfrm>
            <a:off x="5695684" y="1120622"/>
            <a:ext cx="91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PPHA 41102: PE II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69FE1-38DA-C44B-945A-BBAC022E157E}"/>
              </a:ext>
            </a:extLst>
          </p:cNvPr>
          <p:cNvSpPr txBox="1"/>
          <p:nvPr/>
        </p:nvSpPr>
        <p:spPr>
          <a:xfrm>
            <a:off x="3991546" y="526673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PPHA 40102:</a:t>
            </a:r>
          </a:p>
          <a:p>
            <a:r>
              <a:rPr lang="en-US" dirty="0"/>
              <a:t>FMDP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D46D8-6408-6D49-A0CE-DA8CDC0BEA3F}"/>
              </a:ext>
            </a:extLst>
          </p:cNvPr>
          <p:cNvSpPr txBox="1"/>
          <p:nvPr/>
        </p:nvSpPr>
        <p:spPr>
          <a:xfrm>
            <a:off x="7660031" y="1305288"/>
            <a:ext cx="23769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x2 of:</a:t>
            </a:r>
          </a:p>
          <a:p>
            <a:pPr marL="285750" indent="-285750">
              <a:buFontTx/>
              <a:buChar char="-"/>
            </a:pPr>
            <a:r>
              <a:rPr lang="en-US" dirty="0"/>
              <a:t>43100:</a:t>
            </a:r>
            <a:r>
              <a:rPr lang="en-US" b="1" dirty="0"/>
              <a:t> </a:t>
            </a:r>
            <a:r>
              <a:rPr lang="en-US" dirty="0"/>
              <a:t>MLE</a:t>
            </a:r>
          </a:p>
          <a:p>
            <a:pPr marL="285750" indent="-285750">
              <a:buFontTx/>
              <a:buChar char="-"/>
            </a:pPr>
            <a:r>
              <a:rPr lang="en-US" dirty="0"/>
              <a:t>Causal inference II </a:t>
            </a:r>
          </a:p>
          <a:p>
            <a:pPr marL="285750" indent="-285750">
              <a:buFontTx/>
              <a:buChar char="-"/>
            </a:pPr>
            <a:r>
              <a:rPr lang="en-US" dirty="0"/>
              <a:t>Multilevel modeling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Experimental design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2FAEE4D-A48A-F44D-9BA7-01DA00689F0B}"/>
              </a:ext>
            </a:extLst>
          </p:cNvPr>
          <p:cNvSpPr/>
          <p:nvPr/>
        </p:nvSpPr>
        <p:spPr>
          <a:xfrm rot="16200000">
            <a:off x="4026908" y="-1883333"/>
            <a:ext cx="300796" cy="529677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E252F191-4E0D-184A-933A-231E4652EEA2}"/>
              </a:ext>
            </a:extLst>
          </p:cNvPr>
          <p:cNvSpPr/>
          <p:nvPr/>
        </p:nvSpPr>
        <p:spPr>
          <a:xfrm rot="16200000">
            <a:off x="9033033" y="-1313858"/>
            <a:ext cx="244406" cy="4166068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943E1F-D0A8-F14F-89F2-EE812E8B07EA}"/>
              </a:ext>
            </a:extLst>
          </p:cNvPr>
          <p:cNvSpPr txBox="1"/>
          <p:nvPr/>
        </p:nvSpPr>
        <p:spPr>
          <a:xfrm>
            <a:off x="3834580" y="237329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1920DE-A979-F242-8A21-87F79A7988EC}"/>
              </a:ext>
            </a:extLst>
          </p:cNvPr>
          <p:cNvSpPr txBox="1"/>
          <p:nvPr/>
        </p:nvSpPr>
        <p:spPr>
          <a:xfrm>
            <a:off x="8824451" y="244054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2+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EC528CC7-8E0A-D343-BF36-55AE94A2D868}"/>
              </a:ext>
            </a:extLst>
          </p:cNvPr>
          <p:cNvCxnSpPr>
            <a:cxnSpLocks/>
          </p:cNvCxnSpPr>
          <p:nvPr/>
        </p:nvCxnSpPr>
        <p:spPr>
          <a:xfrm flipV="1">
            <a:off x="2876637" y="1650155"/>
            <a:ext cx="1114909" cy="851665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98DD7B69-1569-D14A-8C2A-EBC338DBDA22}"/>
              </a:ext>
            </a:extLst>
          </p:cNvPr>
          <p:cNvCxnSpPr>
            <a:cxnSpLocks/>
          </p:cNvCxnSpPr>
          <p:nvPr/>
        </p:nvCxnSpPr>
        <p:spPr>
          <a:xfrm>
            <a:off x="2847491" y="3069782"/>
            <a:ext cx="1114909" cy="1028760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0FDC1C-DF1F-154B-AEAA-81CFD369E17B}"/>
              </a:ext>
            </a:extLst>
          </p:cNvPr>
          <p:cNvCxnSpPr>
            <a:cxnSpLocks/>
          </p:cNvCxnSpPr>
          <p:nvPr/>
        </p:nvCxnSpPr>
        <p:spPr>
          <a:xfrm>
            <a:off x="2675078" y="4367957"/>
            <a:ext cx="1030279" cy="144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BE31C1-7D01-AF44-9E31-4EE9373C02A3}"/>
              </a:ext>
            </a:extLst>
          </p:cNvPr>
          <p:cNvCxnSpPr/>
          <p:nvPr/>
        </p:nvCxnSpPr>
        <p:spPr>
          <a:xfrm>
            <a:off x="4905946" y="4352330"/>
            <a:ext cx="7809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84DC46-CC25-5E4E-81FD-93733AFB48A4}"/>
              </a:ext>
            </a:extLst>
          </p:cNvPr>
          <p:cNvCxnSpPr>
            <a:cxnSpLocks/>
          </p:cNvCxnSpPr>
          <p:nvPr/>
        </p:nvCxnSpPr>
        <p:spPr>
          <a:xfrm>
            <a:off x="2653128" y="4618197"/>
            <a:ext cx="1181452" cy="11101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2AFD8138-01C3-584E-8AAB-8C8F0E2E6F9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95851" y="3302690"/>
            <a:ext cx="1821897" cy="1694660"/>
          </a:xfrm>
          <a:prstGeom prst="curvedConnector3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7B7DB75-71F5-904D-ABFF-C09F8D542A96}"/>
              </a:ext>
            </a:extLst>
          </p:cNvPr>
          <p:cNvCxnSpPr/>
          <p:nvPr/>
        </p:nvCxnSpPr>
        <p:spPr>
          <a:xfrm>
            <a:off x="4764430" y="1650155"/>
            <a:ext cx="7809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5125633-99C2-BA42-B783-5A4878CE1DBF}"/>
              </a:ext>
            </a:extLst>
          </p:cNvPr>
          <p:cNvCxnSpPr>
            <a:cxnSpLocks/>
          </p:cNvCxnSpPr>
          <p:nvPr/>
        </p:nvCxnSpPr>
        <p:spPr>
          <a:xfrm>
            <a:off x="6591122" y="1676542"/>
            <a:ext cx="1068909" cy="3552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2E1B61C-633E-C44B-BBA6-A3FD1A23EE57}"/>
              </a:ext>
            </a:extLst>
          </p:cNvPr>
          <p:cNvSpPr/>
          <p:nvPr/>
        </p:nvSpPr>
        <p:spPr>
          <a:xfrm>
            <a:off x="7213717" y="3538558"/>
            <a:ext cx="4024553" cy="2604753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1411D6-E158-434B-AA9B-50AC8FC97B7D}"/>
              </a:ext>
            </a:extLst>
          </p:cNvPr>
          <p:cNvSpPr txBox="1"/>
          <p:nvPr/>
        </p:nvSpPr>
        <p:spPr>
          <a:xfrm>
            <a:off x="7802601" y="3789402"/>
            <a:ext cx="30206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Shout Outs:</a:t>
            </a:r>
          </a:p>
          <a:p>
            <a:r>
              <a:rPr lang="en-US" dirty="0"/>
              <a:t>31101: Computational Tools for Social Science</a:t>
            </a:r>
          </a:p>
          <a:p>
            <a:endParaRPr lang="en-US" dirty="0"/>
          </a:p>
          <a:p>
            <a:r>
              <a:rPr lang="en-US" dirty="0"/>
              <a:t>57200: Network Analysis</a:t>
            </a:r>
          </a:p>
          <a:p>
            <a:endParaRPr lang="en-US" dirty="0"/>
          </a:p>
          <a:p>
            <a:r>
              <a:rPr lang="en-US" dirty="0"/>
              <a:t>IPE, Quantitative Security, PE, CPE, etc.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61ED0F-26C3-C24A-99C8-AF5F508B31BD}"/>
              </a:ext>
            </a:extLst>
          </p:cNvPr>
          <p:cNvSpPr txBox="1"/>
          <p:nvPr/>
        </p:nvSpPr>
        <p:spPr>
          <a:xfrm>
            <a:off x="5695684" y="3895130"/>
            <a:ext cx="91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of</a:t>
            </a:r>
          </a:p>
          <a:p>
            <a:r>
              <a:rPr lang="en-US" dirty="0"/>
              <a:t>40815: NDFT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40801:</a:t>
            </a:r>
          </a:p>
          <a:p>
            <a:r>
              <a:rPr lang="en-US" dirty="0"/>
              <a:t>Social Choice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996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266</Words>
  <Application>Microsoft Macintosh PowerPoint</Application>
  <PresentationFormat>Widescreen</PresentationFormat>
  <Paragraphs>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The Study of Quantitative and Formal Political Methodology for a Political Science PhD.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Gulotty</dc:creator>
  <cp:lastModifiedBy>Robert Gulotty</cp:lastModifiedBy>
  <cp:revision>18</cp:revision>
  <dcterms:created xsi:type="dcterms:W3CDTF">2020-09-21T16:03:17Z</dcterms:created>
  <dcterms:modified xsi:type="dcterms:W3CDTF">2020-09-24T17:04:42Z</dcterms:modified>
</cp:coreProperties>
</file>